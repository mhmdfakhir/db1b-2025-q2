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khi\Desktop\db1b%20stuff\part4_DB1BMarket_2025_2\Notebooks\top_20_city_pair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0" i="0" dirty="0">
                <a:solidFill>
                  <a:schemeClr val="tx1"/>
                </a:solidFill>
                <a:latin typeface="Bembo" panose="02020502050201020203" pitchFamily="18" charset="0"/>
                <a:cs typeface="David" panose="020F0502020204030204" pitchFamily="34" charset="-79"/>
              </a:rPr>
              <a:t>Top 20 United Airlines Domestic City-Pairs by Passenger Volume</a:t>
            </a:r>
          </a:p>
          <a:p>
            <a:pPr>
              <a:defRPr>
                <a:solidFill>
                  <a:schemeClr val="tx1"/>
                </a:solidFill>
              </a:defRPr>
            </a:pPr>
            <a:r>
              <a:rPr lang="en-US" b="0" i="0" dirty="0">
                <a:solidFill>
                  <a:schemeClr val="tx1"/>
                </a:solidFill>
                <a:latin typeface="Bembo" panose="02020502050201020203" pitchFamily="18" charset="0"/>
                <a:cs typeface="David" panose="020F0502020204030204" pitchFamily="34" charset="-79"/>
              </a:rPr>
              <a:t>(Based on 2025-Q2 DB1B Data)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top_20_city_pairs!$I$4</c:f>
              <c:strCache>
                <c:ptCount val="1"/>
                <c:pt idx="0">
                  <c:v>TotalEstimatedPassengers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dobe Garamond Pro" panose="020205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top_20_city_pairs!$C$5:$C$24</c:f>
              <c:strCache>
                <c:ptCount val="20"/>
                <c:pt idx="0">
                  <c:v>EWR-SFO</c:v>
                </c:pt>
                <c:pt idx="1">
                  <c:v>LGA-ORD</c:v>
                </c:pt>
                <c:pt idx="2">
                  <c:v>EWR-LAX</c:v>
                </c:pt>
                <c:pt idx="3">
                  <c:v>ORD-SFO</c:v>
                </c:pt>
                <c:pt idx="4">
                  <c:v>EWR-MCO</c:v>
                </c:pt>
                <c:pt idx="5">
                  <c:v>EWR-ORD</c:v>
                </c:pt>
                <c:pt idx="6">
                  <c:v>IAD-LAX</c:v>
                </c:pt>
                <c:pt idx="7">
                  <c:v>DEN-ORD</c:v>
                </c:pt>
                <c:pt idx="8">
                  <c:v>LAX-ORD</c:v>
                </c:pt>
                <c:pt idx="9">
                  <c:v>EWR-LAS</c:v>
                </c:pt>
                <c:pt idx="10">
                  <c:v>EWR-PBI</c:v>
                </c:pt>
                <c:pt idx="11">
                  <c:v>EWR-FLL</c:v>
                </c:pt>
                <c:pt idx="12">
                  <c:v>LAX-SFO</c:v>
                </c:pt>
                <c:pt idx="13">
                  <c:v>IAH-LGA</c:v>
                </c:pt>
                <c:pt idx="14">
                  <c:v>BOS-ORD</c:v>
                </c:pt>
                <c:pt idx="15">
                  <c:v>DCA-ORD</c:v>
                </c:pt>
                <c:pt idx="16">
                  <c:v>DEN-SFO</c:v>
                </c:pt>
                <c:pt idx="17">
                  <c:v>IAD-SFO</c:v>
                </c:pt>
                <c:pt idx="18">
                  <c:v>IAH-ORD</c:v>
                </c:pt>
                <c:pt idx="19">
                  <c:v>SAN-SFO</c:v>
                </c:pt>
              </c:strCache>
            </c:strRef>
          </c:cat>
          <c:val>
            <c:numRef>
              <c:f>top_20_city_pairs!$I$5:$I$24</c:f>
              <c:numCache>
                <c:formatCode>General</c:formatCode>
                <c:ptCount val="20"/>
                <c:pt idx="0">
                  <c:v>318310</c:v>
                </c:pt>
                <c:pt idx="1">
                  <c:v>285990</c:v>
                </c:pt>
                <c:pt idx="2">
                  <c:v>271890</c:v>
                </c:pt>
                <c:pt idx="3">
                  <c:v>230270</c:v>
                </c:pt>
                <c:pt idx="4">
                  <c:v>220090</c:v>
                </c:pt>
                <c:pt idx="5">
                  <c:v>186370</c:v>
                </c:pt>
                <c:pt idx="6">
                  <c:v>163900</c:v>
                </c:pt>
                <c:pt idx="7">
                  <c:v>156310</c:v>
                </c:pt>
                <c:pt idx="8">
                  <c:v>155880</c:v>
                </c:pt>
                <c:pt idx="9">
                  <c:v>151030</c:v>
                </c:pt>
                <c:pt idx="10">
                  <c:v>149380</c:v>
                </c:pt>
                <c:pt idx="11">
                  <c:v>145440</c:v>
                </c:pt>
                <c:pt idx="12">
                  <c:v>143330</c:v>
                </c:pt>
                <c:pt idx="13">
                  <c:v>142060</c:v>
                </c:pt>
                <c:pt idx="14">
                  <c:v>141140</c:v>
                </c:pt>
                <c:pt idx="15">
                  <c:v>139080</c:v>
                </c:pt>
                <c:pt idx="16">
                  <c:v>137760</c:v>
                </c:pt>
                <c:pt idx="17">
                  <c:v>137300</c:v>
                </c:pt>
                <c:pt idx="18">
                  <c:v>135410</c:v>
                </c:pt>
                <c:pt idx="19">
                  <c:v>134760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D7-4D5F-A91F-40DF55C82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-20"/>
        <c:axId val="1296244479"/>
        <c:axId val="1296247839"/>
      </c:barChart>
      <c:catAx>
        <c:axId val="12962444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dobe Garamond Pro" panose="02020502060506020403" pitchFamily="18" charset="0"/>
                <a:ea typeface="+mn-ea"/>
                <a:cs typeface="+mn-cs"/>
              </a:defRPr>
            </a:pPr>
            <a:endParaRPr lang="en-US"/>
          </a:p>
        </c:txPr>
        <c:crossAx val="1296247839"/>
        <c:crosses val="autoZero"/>
        <c:auto val="1"/>
        <c:lblAlgn val="ctr"/>
        <c:lblOffset val="100"/>
        <c:tickLblSkip val="1"/>
        <c:noMultiLvlLbl val="0"/>
      </c:catAx>
      <c:valAx>
        <c:axId val="12962478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Adobe Garamond Pro" panose="02020502060506020403" pitchFamily="18" charset="0"/>
                    <a:ea typeface="+mn-ea"/>
                    <a:cs typeface="+mn-cs"/>
                  </a:defRPr>
                </a:pPr>
                <a:r>
                  <a:rPr lang="en-CA" sz="1800" dirty="0">
                    <a:solidFill>
                      <a:schemeClr val="tx1"/>
                    </a:solidFill>
                    <a:latin typeface="Adobe Garamond Pro" panose="02020502060506020403" pitchFamily="18" charset="0"/>
                  </a:rPr>
                  <a:t>Total Passengers (Q2, Estimated)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Adobe Garamond Pro" panose="02020502060506020403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dobe Garamond Pro" panose="02020502060506020403" pitchFamily="18" charset="0"/>
                <a:ea typeface="+mn-ea"/>
                <a:cs typeface="+mn-cs"/>
              </a:defRPr>
            </a:pPr>
            <a:endParaRPr lang="en-US"/>
          </a:p>
        </c:txPr>
        <c:crossAx val="1296244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23FD3-8931-4ACC-B338-83D8D840A161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4F22C-D9F2-4DCA-9C08-A190028274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574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4F22C-D9F2-4DCA-9C08-A190028274DF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6423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C44BA-DA45-F505-09D9-D559253CA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6CE5F-A842-16E6-7C0E-0734C3511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B11E2-D543-93DA-7088-7F66EB0A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1BA80-1421-44AE-BF12-27C05591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7AEF9-DBA7-FFFF-A0E2-D2F370E7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1860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CC24-1964-6140-916C-9EAA5A5E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64801-E191-916D-EF8D-E820F0D55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0088-3C43-30D4-7E31-A6BF4A30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F32E8-3E2C-5EC0-74BF-71FF47B9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23D6D-93B9-84F7-B490-6984EC94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0655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3941-1924-1664-5FD0-8CDBA1F5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D9E72-5B49-FC81-88DF-30253F0D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A7D58-83FE-5197-5446-A2950F63F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598B4-B448-D69B-93C7-A2D5845E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F8C40-710F-1903-2EB9-13491B9B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166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00C0-3811-11EE-44E4-5CA1BDB7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69CB-1624-B79B-A8F1-CD6976AB5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AD434-A39D-6CA5-0114-E2F0D3E4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29A1B-F52A-8F2C-2581-0796FCF6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FA9F9-E431-8283-82E6-347A5797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C2676-BF13-51FB-A0C4-5E40E88D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448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0767-F872-4643-AB13-65B4204E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71AAF-99E1-E524-E699-F39316BAB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EC91E-4EA9-BF3F-E6D7-D47F3DDE0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6B9F5-59EA-CDF7-22AD-EFF03C70F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0A992-766D-A508-A793-F981EFCC3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0E1C0-48A9-5985-A5C1-3E792C203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269F56-595E-5EE7-343E-C0836234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041D2-FB7F-E190-DBE1-8CDD2F9A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921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0530-B002-CD75-62A5-E3D35B1B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8FB83-80E4-0D73-9388-21768514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B2033-F489-974B-B492-1976FC7A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D1E91-D98B-B2CD-3F82-8CD90B2C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62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171F7-0D6E-4820-5BBB-9ADB0E43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F7621-83AD-B525-7530-4D5834BC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06EA6-5B8B-5CEB-F9C4-E27104C5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93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9BA1-FBFB-BCDE-6095-98E24E16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6AD16-52B2-232D-4204-11A36FAFD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770B1-D6CD-D163-46FA-6449E1D54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AD96C-EBB2-860C-CF53-34FA6984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C07A9-BD2B-35FD-48DE-475E722D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D26E6-BE0F-055C-E217-2BB5323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978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F46F-941C-2DB5-C8DB-5A8209C6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9A9A88-933D-2202-05F7-14D82538D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FB0FE-5E2F-6CCE-0872-C932C51B0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0A3D3-77B1-298B-1E53-3DAA9214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B4BA8-2F32-452F-1C6B-CB6609AC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65BCA-18A3-87E6-F8F1-29A4C4DF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2586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3799-1C02-2393-A756-A86EBEE5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B051C-345B-E4DE-E39C-ED2A63CD7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79D12-1DB5-37B2-7E69-F6DB1EC76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A4DE8-4FC0-688E-EC28-4A3F529B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43F88-A247-CE98-D34E-B2EC75BE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367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729DC0-9633-6879-7FB4-5DA90FEE5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02309-B6DF-3D76-4E5E-0FAB90233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5BD7-CA16-5E17-CBA2-7ED8A793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8051A-41A1-A925-6ECF-79C7E6B0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0D795-3BFA-436C-FE7E-A17EF237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271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44A6B-B38F-180C-AF96-8BDB99D4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1AC15-9592-52B2-9EB9-599AD0275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0F5A5-9471-A9EB-FD35-CD30EAE19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A2123-AA92-4692-BDB2-2C18CCF6F98D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18BFA-515D-08E8-2D5D-5B20144AC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875A9-AC58-DB22-3A63-DCCB439A0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984A6-EEE6-4B3C-9254-23D846F6FD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01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4B1282F-E57C-CFDD-1065-4CC4CC0BFC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745905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28268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24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Adobe Garamond Pro</vt:lpstr>
      <vt:lpstr>Aptos</vt:lpstr>
      <vt:lpstr>Aptos Display</vt:lpstr>
      <vt:lpstr>Arial</vt:lpstr>
      <vt:lpstr>Bembo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mfakhir@student.ubc.ca</dc:creator>
  <cp:lastModifiedBy>mfakhir@student.ubc.ca</cp:lastModifiedBy>
  <cp:revision>1</cp:revision>
  <dcterms:created xsi:type="dcterms:W3CDTF">2026-01-28T09:04:16Z</dcterms:created>
  <dcterms:modified xsi:type="dcterms:W3CDTF">2026-01-28T10:22:57Z</dcterms:modified>
</cp:coreProperties>
</file>